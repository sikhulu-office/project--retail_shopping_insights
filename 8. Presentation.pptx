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22222"/>
                </a:solidFill>
                <a:latin typeface="Calibri"/>
              </a:rPr>
              <a:t>Revenue by gender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2A9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8B-45A6-91BD-F952A23A7961}"/>
              </c:ext>
            </c:extLst>
          </c:dPt>
          <c:dPt>
            <c:idx val="1"/>
            <c:invertIfNegative val="0"/>
            <c:bubble3D val="0"/>
            <c:spPr>
              <a:solidFill>
                <a:srgbClr val="7FB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8B-45A6-91BD-F952A23A79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8B-45A6-91BD-F952A23A79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22222"/>
                </a:solidFill>
                <a:latin typeface="Calibri"/>
              </a:rPr>
              <a:t>Revenue by age group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5-4D29-8719-8584772B35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22222"/>
                </a:solidFill>
                <a:latin typeface="Calibri"/>
              </a:rPr>
              <a:t>Most discount-dependent products (% of sales)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1B2A9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Pants</c:v>
                </c:pt>
                <c:pt idx="1">
                  <c:v>Sweater</c:v>
                </c:pt>
                <c:pt idx="2">
                  <c:v>Coat</c:v>
                </c:pt>
                <c:pt idx="3">
                  <c:v>Sneakers</c:v>
                </c:pt>
                <c:pt idx="4">
                  <c:v>Hat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47.37</c:v>
                </c:pt>
                <c:pt idx="1">
                  <c:v>48.17</c:v>
                </c:pt>
                <c:pt idx="2">
                  <c:v>49.07</c:v>
                </c:pt>
                <c:pt idx="3">
                  <c:v>49.66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4-42B8-89B8-AF4105EB72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5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SHOPPING INSIGHTS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retail data to business decisions with Python, SQL &amp; Power BI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011680" cy="0"/>
          </a:xfrm>
          <a:prstGeom prst="line">
            <a:avLst/>
          </a:prstGeom>
          <a:noFill/>
          <a:ln w="25400">
            <a:solidFill>
              <a:srgbClr val="7FB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Sikhululiwe Masuku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 |  Data Analysis Portfolio Project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customer shopping behaviour in a retail store to uncover purchasing patterns, gauge sales performance and understand what drives customer spending.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5666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(customer records)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20116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55666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0116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55666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(Review Rating)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B2A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MYSQL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business questions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338328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in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52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37 null Review Ratings with the median of each product category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73152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252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standardisation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737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lowercase snake_case for readability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280160"/>
            <a:ext cx="73152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2527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373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age into Young Adult, Adult, Middle-aged and Senior using quartiles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73152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35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frequency labels (Weekly, Monthly...) to days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063240"/>
            <a:ext cx="73152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035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discount_applied and promo_code_used identical, so dropped the redundant column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063240"/>
            <a:ext cx="73152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035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cleaned dataset to CSV and loaded it into MySQL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Insights: Who Drives Revenue?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48640" y="1143000"/>
          <a:ext cx="37947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800600" y="1143000"/>
          <a:ext cx="37947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about 68% of revenue. Spend is spread fairly evenly across age groups, however Young Adults are the highest spenders.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Insights: Discounts, Shipping &amp; Newsletter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143000"/>
          <a:ext cx="4389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09728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0" y="1188720"/>
            <a:ext cx="3383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 vs $58.46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972361"/>
            <a:ext cx="3200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purchase: Express vs Standard shipping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278892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2880360"/>
            <a:ext cx="3383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 vs $59.87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3664001"/>
            <a:ext cx="3200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Subscribers vs Non-subscribers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of sales for these five items use a discount. Subscribers spend about the same as non-subscribers, yet only 27% of customers subscribe.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</a:ln>
        </p:spPr>
      </p:sp>
      <p:pic>
        <p:nvPicPr>
          <p:cNvPr id="4" name="Image 0" descr="Power BI retail shopping insights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51560"/>
            <a:ext cx="6583680" cy="3675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category revenue and sales, subscription rate and age-group trends, filterable by subscription, gender, category and shipping type.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07008"/>
            <a:ext cx="365760" cy="365760"/>
          </a:xfrm>
          <a:prstGeom prst="ellipse">
            <a:avLst/>
          </a:prstGeom>
          <a:solidFill>
            <a:srgbClr val="1B2A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051560"/>
            <a:ext cx="7452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marketing by gender 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brought in $157,890 vs $75,191 from female customers. Investigate customer counts and purchase patterns to find growth in both segments.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9656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75104"/>
            <a:ext cx="365760" cy="3657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819656"/>
            <a:ext cx="7452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discount strategy 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Hats, sneakers, coats, sweaters and pants are discounted on about 47-50% of sales. Check profitability and whether discounts are needed this often.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rgbClr val="1B2A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87752"/>
            <a:ext cx="7452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newsletter subscriptions 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 and spend is similar. Test targeted incentives to build the base.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511296"/>
            <a:ext cx="365760" cy="3657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355848"/>
            <a:ext cx="7452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express shipping 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orders average slightly more ($60.48 vs $58.46). Weigh the lift against fulfilment cost.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23944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279392"/>
            <a:ext cx="365760" cy="365760"/>
          </a:xfrm>
          <a:prstGeom prst="ellipse">
            <a:avLst/>
          </a:prstGeom>
          <a:solidFill>
            <a:srgbClr val="1B2A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123944"/>
            <a:ext cx="7452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retention 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purchase history to target Returning and Loyal customers with personalised offers and loyalty rewards.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cleaning, feature engineering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554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554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(MySQL)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Aggregations, CTEs, window functions, CASE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interactive dashboards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7FB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recommendations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Sikhululiwe Masuku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 |  Open to internship opportunities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tutorial by Amlan Mohanty (GitHub, YouTube); cleaning, SQL, dashboard and report are my own implementation.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512</Words>
  <Application>Microsoft Office PowerPoint</Application>
  <PresentationFormat>On-screen Show (16:9)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Shopping Insights</dc:title>
  <dc:subject>PptxGenJS Presentation</dc:subject>
  <dc:creator>Sikhululiwe Masuku</dc:creator>
  <cp:lastModifiedBy>Sikhulu</cp:lastModifiedBy>
  <cp:revision>2</cp:revision>
  <dcterms:created xsi:type="dcterms:W3CDTF">2026-10-19T21:51:38Z</dcterms:created>
  <dcterms:modified xsi:type="dcterms:W3CDTF">2026-10-20T21:57:59Z</dcterms:modified>
</cp:coreProperties>
</file>